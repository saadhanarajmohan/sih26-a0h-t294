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8" r:id="rId4"/>
    <p:sldId id="293" r:id="rId5"/>
    <p:sldId id="294" r:id="rId6"/>
    <p:sldId id="299"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8/30/2026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8/30/2026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8/30/2026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8/30/2026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8/30/2026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8/30/2026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8/30/2026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8/30/2026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8/30/2026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8/30/2026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8/30/2026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8/30/2026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8/30/2026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pib.gov.in/PressReleasePage.aspx?PRID=2244628&amp;utm" TargetMode="External"/><Relationship Id="rId5" Type="http://schemas.openxmlformats.org/officeDocument/2006/relationships/hyperlink" Target="https://icar.gov.in/?utm_source=chatgpt.comhttps://www.icar.org.in/sites/default/files/2025-10/ICAR%20Eng%20Annual%20Report_2024-25.pdf?utm_https://epubs.icar.org.in/index.php/IndFarm/article/view/130025?utm" TargetMode="External"/><Relationship Id="rId4" Type="http://schemas.openxmlformats.org/officeDocument/2006/relationships/hyperlink" Target="https://www.fao.org/investment-centre/latest/news/detail/Transforming-food-systems-in-India-with-digital-agriculture/?u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127194" y="187537"/>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04800" y="1346399"/>
            <a:ext cx="6153285" cy="4863383"/>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Problem Statement ID – 26180</a:t>
            </a:r>
          </a:p>
          <a:p>
            <a:pPr marL="285750" indent="-285750" algn="just">
              <a:lnSpc>
                <a:spcPct val="20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Problem Statement Title- </a:t>
            </a:r>
            <a:r>
              <a:rPr lang="en-US" sz="1050" b="1" dirty="0">
                <a:latin typeface="Arial" panose="020B0604020202020204" pitchFamily="34" charset="0"/>
                <a:cs typeface="Arial" panose="020B0604020202020204" pitchFamily="34" charset="0"/>
              </a:rPr>
              <a:t>A field-deployable AI-powered Smart Farming Assistant that helps farmers detect crop diseases, pests, nutrient deficiencies, and irrigation needs at an early stage, while improving resilience against droughts, floods, heat waves, and other agricultural risks common in India. The solution should enable higher yields, lower input costs, more efficient water usage, and faster response to emerging threats through real-time on-device intelligence.</a:t>
            </a:r>
          </a:p>
          <a:p>
            <a:pPr marL="285750" indent="-285750" algn="just">
              <a:lnSpc>
                <a:spcPct val="20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Theme- Agriculture, </a:t>
            </a:r>
            <a:r>
              <a:rPr lang="en-US" sz="1600" b="1" dirty="0" err="1">
                <a:latin typeface="Arial" panose="020B0604020202020204" pitchFamily="34" charset="0"/>
                <a:cs typeface="Arial" panose="020B0604020202020204" pitchFamily="34" charset="0"/>
              </a:rPr>
              <a:t>FoodTech</a:t>
            </a:r>
            <a:r>
              <a:rPr lang="en-US" sz="1600" b="1" dirty="0">
                <a:latin typeface="Arial" panose="020B0604020202020204" pitchFamily="34" charset="0"/>
                <a:cs typeface="Arial" panose="020B0604020202020204" pitchFamily="34" charset="0"/>
              </a:rPr>
              <a:t> &amp; Rural Development</a:t>
            </a:r>
          </a:p>
          <a:p>
            <a:pPr marL="285750" indent="-285750" algn="just">
              <a:lnSpc>
                <a:spcPct val="20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PS Category- Hardware</a:t>
            </a:r>
          </a:p>
          <a:p>
            <a:pPr marL="285750" indent="-285750" algn="just">
              <a:lnSpc>
                <a:spcPct val="20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Team ID- SIH26-A0H-T294</a:t>
            </a:r>
          </a:p>
          <a:p>
            <a:pPr marL="285750" indent="-285750" algn="just">
              <a:lnSpc>
                <a:spcPct val="20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Team Name - </a:t>
            </a:r>
            <a:r>
              <a:rPr lang="en-US" sz="1600" b="1" dirty="0" err="1">
                <a:latin typeface="Arial" panose="020B0604020202020204" pitchFamily="34" charset="0"/>
                <a:cs typeface="Arial" panose="020B0604020202020204" pitchFamily="34" charset="0"/>
              </a:rPr>
              <a:t>QBic</a:t>
            </a:r>
            <a:r>
              <a:rPr lang="en-US" sz="1600" b="1" dirty="0">
                <a:latin typeface="Arial" panose="020B0604020202020204" pitchFamily="34" charset="0"/>
                <a:cs typeface="Arial" panose="020B0604020202020204" pitchFamily="34" charset="0"/>
              </a:rPr>
              <a:t> innovators</a:t>
            </a:r>
            <a:endParaRPr lang="en-IN" sz="16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69F1566E-2DDB-B351-4192-57FE2DFB03B6}"/>
              </a:ext>
            </a:extLst>
          </p:cNvPr>
          <p:cNvPicPr>
            <a:picLocks noChangeAspect="1"/>
          </p:cNvPicPr>
          <p:nvPr/>
        </p:nvPicPr>
        <p:blipFill>
          <a:blip r:embed="rId4"/>
          <a:stretch>
            <a:fillRect/>
          </a:stretch>
        </p:blipFill>
        <p:spPr>
          <a:xfrm>
            <a:off x="182998" y="169554"/>
            <a:ext cx="1495412" cy="996941"/>
          </a:xfrm>
          <a:prstGeom prst="rect">
            <a:avLst/>
          </a:prstGeom>
        </p:spPr>
      </p:pic>
      <p:sp>
        <p:nvSpPr>
          <p:cNvPr id="4" name="Rectangle: Rounded Corners 3">
            <a:extLst>
              <a:ext uri="{FF2B5EF4-FFF2-40B4-BE49-F238E27FC236}">
                <a16:creationId xmlns:a16="http://schemas.microsoft.com/office/drawing/2014/main" id="{7D6E7453-F3D3-F672-B3F1-B0AEF9AE6822}"/>
              </a:ext>
            </a:extLst>
          </p:cNvPr>
          <p:cNvSpPr/>
          <p:nvPr/>
        </p:nvSpPr>
        <p:spPr>
          <a:xfrm>
            <a:off x="787400" y="1508241"/>
            <a:ext cx="10795000" cy="1247659"/>
          </a:xfrm>
          <a:prstGeom prst="roundRect">
            <a:avLst/>
          </a:prstGeom>
          <a:noFill/>
          <a:ln w="25400">
            <a:solidFill>
              <a:schemeClr val="tx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BBB312EE-6E32-5B99-CAD5-2E5A0AD83567}"/>
              </a:ext>
            </a:extLst>
          </p:cNvPr>
          <p:cNvSpPr/>
          <p:nvPr/>
        </p:nvSpPr>
        <p:spPr>
          <a:xfrm>
            <a:off x="787400" y="3034141"/>
            <a:ext cx="10795000" cy="1247659"/>
          </a:xfrm>
          <a:prstGeom prst="roundRect">
            <a:avLst/>
          </a:prstGeom>
          <a:noFill/>
          <a:ln w="25400">
            <a:solidFill>
              <a:schemeClr val="tx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E2E16016-A286-B534-1D53-99A6624617B7}"/>
              </a:ext>
            </a:extLst>
          </p:cNvPr>
          <p:cNvSpPr/>
          <p:nvPr/>
        </p:nvSpPr>
        <p:spPr>
          <a:xfrm>
            <a:off x="787400" y="4560041"/>
            <a:ext cx="10795000" cy="1247659"/>
          </a:xfrm>
          <a:prstGeom prst="roundRect">
            <a:avLst/>
          </a:prstGeom>
          <a:noFill/>
          <a:ln w="25400">
            <a:solidFill>
              <a:schemeClr val="tx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FA5F3290-3A99-0E82-D7EA-E8376B499482}"/>
              </a:ext>
            </a:extLst>
          </p:cNvPr>
          <p:cNvSpPr txBox="1"/>
          <p:nvPr/>
        </p:nvSpPr>
        <p:spPr>
          <a:xfrm>
            <a:off x="956250" y="1520941"/>
            <a:ext cx="10279498" cy="1200329"/>
          </a:xfrm>
          <a:prstGeom prst="rect">
            <a:avLst/>
          </a:prstGeom>
          <a:noFill/>
        </p:spPr>
        <p:txBody>
          <a:bodyPr wrap="square" rtlCol="0">
            <a:spAutoFit/>
          </a:bodyPr>
          <a:lstStyle/>
          <a:p>
            <a:r>
              <a:rPr lang="en-US" b="1" dirty="0"/>
              <a:t>Proposed</a:t>
            </a:r>
            <a:r>
              <a:rPr lang="en-US" dirty="0"/>
              <a:t> </a:t>
            </a:r>
            <a:r>
              <a:rPr lang="en-US" b="1" dirty="0"/>
              <a:t>Solution</a:t>
            </a:r>
            <a:r>
              <a:rPr lang="en-US" dirty="0"/>
              <a:t>: A portable AI-powered field device that combines camera-based crop analysis with soil and environmental </a:t>
            </a:r>
            <a:r>
              <a:rPr lang="en-US" dirty="0" err="1"/>
              <a:t>sensors.Detects</a:t>
            </a:r>
            <a:r>
              <a:rPr lang="en-US" dirty="0"/>
              <a:t> crop diseases, pests, nutrient deficiencies, and irrigation requirements at an early </a:t>
            </a:r>
            <a:r>
              <a:rPr lang="en-US" dirty="0" err="1"/>
              <a:t>stage.Continuously</a:t>
            </a:r>
            <a:r>
              <a:rPr lang="en-US" dirty="0"/>
              <a:t> monitors soil moisture, temperature, humidity, pH and other field parameters.AI analyzes sensor readings + crop images to provide real-time, crop-specific recommendations to farmers.</a:t>
            </a:r>
            <a:endParaRPr lang="en-IN" dirty="0"/>
          </a:p>
        </p:txBody>
      </p:sp>
      <p:sp>
        <p:nvSpPr>
          <p:cNvPr id="12" name="TextBox 11">
            <a:extLst>
              <a:ext uri="{FF2B5EF4-FFF2-40B4-BE49-F238E27FC236}">
                <a16:creationId xmlns:a16="http://schemas.microsoft.com/office/drawing/2014/main" id="{0EA201B5-3EDC-FC5D-47AC-8DAE5A2F5BD4}"/>
              </a:ext>
            </a:extLst>
          </p:cNvPr>
          <p:cNvSpPr txBox="1"/>
          <p:nvPr/>
        </p:nvSpPr>
        <p:spPr>
          <a:xfrm>
            <a:off x="930704" y="3072246"/>
            <a:ext cx="10651696" cy="1077218"/>
          </a:xfrm>
          <a:prstGeom prst="rect">
            <a:avLst/>
          </a:prstGeom>
          <a:noFill/>
        </p:spPr>
        <p:txBody>
          <a:bodyPr wrap="square" rtlCol="0">
            <a:spAutoFit/>
          </a:bodyPr>
          <a:lstStyle/>
          <a:p>
            <a:r>
              <a:rPr lang="en-IN" sz="1600" b="1" dirty="0"/>
              <a:t>How it Addresses the Problem</a:t>
            </a:r>
            <a:r>
              <a:rPr lang="en-IN" sz="1600" dirty="0"/>
              <a:t>:</a:t>
            </a:r>
            <a:r>
              <a:rPr lang="en-IN" sz="1600" b="1" dirty="0"/>
              <a:t> </a:t>
            </a:r>
            <a:r>
              <a:rPr lang="en-IN" sz="1600" dirty="0"/>
              <a:t>Early detection → identifies crop stress before major damage </a:t>
            </a:r>
            <a:r>
              <a:rPr lang="en-IN" sz="1600" dirty="0" err="1"/>
              <a:t>occurs.Smart</a:t>
            </a:r>
            <a:r>
              <a:rPr lang="en-IN" sz="1600" dirty="0"/>
              <a:t> irrigation → recommends when and how much to irrigate based on actual soil </a:t>
            </a:r>
            <a:r>
              <a:rPr lang="en-IN" sz="1600" dirty="0" err="1"/>
              <a:t>conditions.Disease</a:t>
            </a:r>
            <a:r>
              <a:rPr lang="en-IN" sz="1600" dirty="0"/>
              <a:t> &amp; pest detection → AI identifies visible symptoms from crop </a:t>
            </a:r>
            <a:r>
              <a:rPr lang="en-IN" sz="1600" dirty="0" err="1"/>
              <a:t>images.Nutrient</a:t>
            </a:r>
            <a:r>
              <a:rPr lang="en-IN" sz="1600" dirty="0"/>
              <a:t> monitoring → detects potential nutrient deficiencies using crop/soil </a:t>
            </a:r>
            <a:r>
              <a:rPr lang="en-IN" sz="1600" dirty="0" err="1"/>
              <a:t>data.Risk</a:t>
            </a:r>
            <a:r>
              <a:rPr lang="en-IN" sz="1600" dirty="0"/>
              <a:t> awareness → helps farmers respond to drought, heat, floods and other environmental stresses.</a:t>
            </a:r>
          </a:p>
        </p:txBody>
      </p:sp>
      <p:sp>
        <p:nvSpPr>
          <p:cNvPr id="13" name="TextBox 12">
            <a:extLst>
              <a:ext uri="{FF2B5EF4-FFF2-40B4-BE49-F238E27FC236}">
                <a16:creationId xmlns:a16="http://schemas.microsoft.com/office/drawing/2014/main" id="{FC2210C9-2624-DB1E-1F5E-491732ECAFFA}"/>
              </a:ext>
            </a:extLst>
          </p:cNvPr>
          <p:cNvSpPr txBox="1"/>
          <p:nvPr/>
        </p:nvSpPr>
        <p:spPr>
          <a:xfrm>
            <a:off x="1036202" y="4583705"/>
            <a:ext cx="10546198" cy="1200329"/>
          </a:xfrm>
          <a:prstGeom prst="rect">
            <a:avLst/>
          </a:prstGeom>
          <a:noFill/>
        </p:spPr>
        <p:txBody>
          <a:bodyPr wrap="square" rtlCol="0">
            <a:spAutoFit/>
          </a:bodyPr>
          <a:lstStyle/>
          <a:p>
            <a:r>
              <a:rPr lang="en-US" b="1" dirty="0"/>
              <a:t>Innovation &amp; Uniqueness</a:t>
            </a:r>
            <a:r>
              <a:rPr lang="en-US" dirty="0"/>
              <a:t>: Multimodal AI: combines visual + sensor + environmental data instead of relying on a single </a:t>
            </a:r>
            <a:r>
              <a:rPr lang="en-US" dirty="0" err="1"/>
              <a:t>input.Field</a:t>
            </a:r>
            <a:r>
              <a:rPr lang="en-US" dirty="0"/>
              <a:t>-deployable: designed as a portable, low-cost device for use directly in </a:t>
            </a:r>
            <a:r>
              <a:rPr lang="en-US" dirty="0" err="1"/>
              <a:t>farms.Real</a:t>
            </a:r>
            <a:r>
              <a:rPr lang="en-US" dirty="0"/>
              <a:t>-time &amp; localized: provides recommendations based on the specific crop and field </a:t>
            </a:r>
            <a:r>
              <a:rPr lang="en-US" dirty="0" err="1"/>
              <a:t>conditions.Scalable</a:t>
            </a:r>
            <a:r>
              <a:rPr lang="en-US" dirty="0"/>
              <a:t>: can be expanded with additional sensors, crops and regional-language support.</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dirty="0">
                <a:solidFill>
                  <a:schemeClr val="bg1"/>
                </a:solidFill>
              </a:rPr>
              <a:t>@SIH Idea submission- Template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2" name="Shape 15">
            <a:extLst>
              <a:ext uri="{FF2B5EF4-FFF2-40B4-BE49-F238E27FC236}">
                <a16:creationId xmlns:a16="http://schemas.microsoft.com/office/drawing/2014/main" id="{5202F44D-B1F3-F911-CCF3-8621C14D29B9}"/>
              </a:ext>
            </a:extLst>
          </p:cNvPr>
          <p:cNvSpPr/>
          <p:nvPr/>
        </p:nvSpPr>
        <p:spPr>
          <a:xfrm>
            <a:off x="177304" y="1143320"/>
            <a:ext cx="5918696" cy="5074920"/>
          </a:xfrm>
          <a:prstGeom prst="rect">
            <a:avLst/>
          </a:prstGeom>
          <a:solidFill>
            <a:srgbClr val="FFFFFF"/>
          </a:solidFill>
          <a:ln w="12700">
            <a:solidFill>
              <a:srgbClr val="E3E8DE"/>
            </a:solidFill>
            <a:prstDash val="solid"/>
          </a:ln>
          <a:effectLst>
            <a:outerShdw blurRad="76200" dist="25400" dir="5400000" algn="bl" rotWithShape="0">
              <a:srgbClr val="3A3A3A">
                <a:alpha val="18000"/>
              </a:srgbClr>
            </a:outerShdw>
          </a:effectLst>
        </p:spPr>
        <p:txBody>
          <a:bodyPr/>
          <a:lstStyle/>
          <a:p>
            <a:endParaRPr lang="en-IN"/>
          </a:p>
        </p:txBody>
      </p:sp>
      <p:sp>
        <p:nvSpPr>
          <p:cNvPr id="23" name="Shape 16">
            <a:extLst>
              <a:ext uri="{FF2B5EF4-FFF2-40B4-BE49-F238E27FC236}">
                <a16:creationId xmlns:a16="http://schemas.microsoft.com/office/drawing/2014/main" id="{3DA16D12-C422-E557-46CB-54489F64B8B7}"/>
              </a:ext>
            </a:extLst>
          </p:cNvPr>
          <p:cNvSpPr/>
          <p:nvPr/>
        </p:nvSpPr>
        <p:spPr>
          <a:xfrm>
            <a:off x="378472" y="1561551"/>
            <a:ext cx="457200" cy="457200"/>
          </a:xfrm>
          <a:prstGeom prst="ellipse">
            <a:avLst/>
          </a:prstGeom>
          <a:solidFill>
            <a:srgbClr val="0070C0"/>
          </a:solidFill>
          <a:ln/>
          <a:effectLst>
            <a:outerShdw blurRad="63500" sx="102000" sy="102000" algn="ctr" rotWithShape="0">
              <a:prstClr val="black">
                <a:alpha val="40000"/>
              </a:prstClr>
            </a:outerShdw>
          </a:effectLst>
        </p:spPr>
        <p:txBody>
          <a:bodyPr/>
          <a:lstStyle/>
          <a:p>
            <a:endParaRPr lang="en-IN"/>
          </a:p>
        </p:txBody>
      </p:sp>
      <p:pic>
        <p:nvPicPr>
          <p:cNvPr id="24" name="Image 4">
            <a:extLst>
              <a:ext uri="{FF2B5EF4-FFF2-40B4-BE49-F238E27FC236}">
                <a16:creationId xmlns:a16="http://schemas.microsoft.com/office/drawing/2014/main" id="{96068B6C-C33E-243D-2CDC-9990360D5390}"/>
              </a:ext>
            </a:extLst>
          </p:cNvPr>
          <p:cNvPicPr>
            <a:picLocks noChangeAspect="1"/>
          </p:cNvPicPr>
          <p:nvPr/>
        </p:nvPicPr>
        <p:blipFill>
          <a:blip r:embed="rId4"/>
          <a:stretch>
            <a:fillRect/>
          </a:stretch>
        </p:blipFill>
        <p:spPr>
          <a:xfrm>
            <a:off x="479056" y="1662135"/>
            <a:ext cx="256032" cy="256032"/>
          </a:xfrm>
          <a:prstGeom prst="rect">
            <a:avLst/>
          </a:prstGeom>
        </p:spPr>
      </p:pic>
      <p:sp>
        <p:nvSpPr>
          <p:cNvPr id="25" name="Text 17">
            <a:extLst>
              <a:ext uri="{FF2B5EF4-FFF2-40B4-BE49-F238E27FC236}">
                <a16:creationId xmlns:a16="http://schemas.microsoft.com/office/drawing/2014/main" id="{82331522-A0C9-22AF-69F8-19604AC97C28}"/>
              </a:ext>
            </a:extLst>
          </p:cNvPr>
          <p:cNvSpPr txBox="1"/>
          <p:nvPr/>
        </p:nvSpPr>
        <p:spPr>
          <a:xfrm>
            <a:off x="954544" y="1561551"/>
            <a:ext cx="288036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chemeClr val="tx2">
                    <a:lumMod val="75000"/>
                  </a:schemeClr>
                </a:solidFill>
                <a:latin typeface="Calibri" pitchFamily="34" charset="0"/>
                <a:ea typeface="Calibri" pitchFamily="34" charset="-122"/>
                <a:cs typeface="Calibri" pitchFamily="34" charset="-120"/>
              </a:rPr>
              <a:t>HARDWARE</a:t>
            </a:r>
            <a:endParaRPr lang="en-US" sz="1500" dirty="0">
              <a:solidFill>
                <a:schemeClr val="tx2">
                  <a:lumMod val="75000"/>
                </a:schemeClr>
              </a:solidFill>
            </a:endParaRPr>
          </a:p>
        </p:txBody>
      </p:sp>
      <p:sp>
        <p:nvSpPr>
          <p:cNvPr id="28" name="Text 19">
            <a:extLst>
              <a:ext uri="{FF2B5EF4-FFF2-40B4-BE49-F238E27FC236}">
                <a16:creationId xmlns:a16="http://schemas.microsoft.com/office/drawing/2014/main" id="{7CF7C7D5-B5F2-292C-4EFD-7E719FBF5BB7}"/>
              </a:ext>
            </a:extLst>
          </p:cNvPr>
          <p:cNvSpPr txBox="1"/>
          <p:nvPr/>
        </p:nvSpPr>
        <p:spPr>
          <a:xfrm>
            <a:off x="401735" y="2110086"/>
            <a:ext cx="283464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chemeClr val="tx2">
                    <a:lumMod val="75000"/>
                  </a:schemeClr>
                </a:solidFill>
                <a:latin typeface="Calibri" pitchFamily="34" charset="0"/>
                <a:ea typeface="Calibri" pitchFamily="34" charset="-122"/>
                <a:cs typeface="Calibri" pitchFamily="34" charset="-120"/>
              </a:rPr>
              <a:t>Handheld scanner (Android phone)</a:t>
            </a:r>
            <a:endParaRPr lang="en-US" sz="1200" dirty="0">
              <a:solidFill>
                <a:schemeClr val="tx2">
                  <a:lumMod val="75000"/>
                </a:schemeClr>
              </a:solidFill>
            </a:endParaRPr>
          </a:p>
        </p:txBody>
      </p:sp>
      <p:sp>
        <p:nvSpPr>
          <p:cNvPr id="29" name="Text 20">
            <a:extLst>
              <a:ext uri="{FF2B5EF4-FFF2-40B4-BE49-F238E27FC236}">
                <a16:creationId xmlns:a16="http://schemas.microsoft.com/office/drawing/2014/main" id="{03EA4B9F-E151-B22C-79B7-0995EE45C6BC}"/>
              </a:ext>
            </a:extLst>
          </p:cNvPr>
          <p:cNvSpPr txBox="1"/>
          <p:nvPr/>
        </p:nvSpPr>
        <p:spPr>
          <a:xfrm>
            <a:off x="401734" y="2419890"/>
            <a:ext cx="4999607" cy="64008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8000"/>
              </a:lnSpc>
              <a:buNone/>
            </a:pPr>
            <a:r>
              <a:rPr lang="en-US" sz="1000" dirty="0">
                <a:solidFill>
                  <a:srgbClr val="0070C0"/>
                </a:solidFill>
                <a:latin typeface="Calibri" pitchFamily="34" charset="0"/>
                <a:ea typeface="Calibri" pitchFamily="34" charset="-122"/>
                <a:cs typeface="Calibri" pitchFamily="34" charset="-120"/>
              </a:rPr>
              <a:t>Field inspection tool — high-res camera, GPS, on-device NPU/GPU for offline data inference.</a:t>
            </a:r>
          </a:p>
          <a:p>
            <a:pPr marL="0" indent="0">
              <a:lnSpc>
                <a:spcPct val="108000"/>
              </a:lnSpc>
              <a:buNone/>
            </a:pPr>
            <a:r>
              <a:rPr lang="en-US" sz="1000" dirty="0">
                <a:solidFill>
                  <a:srgbClr val="0070C0"/>
                </a:solidFill>
                <a:latin typeface="Calibri" pitchFamily="34" charset="0"/>
                <a:ea typeface="Calibri" pitchFamily="34" charset="-122"/>
                <a:cs typeface="Calibri" pitchFamily="34" charset="-120"/>
              </a:rPr>
              <a:t>Runs both the YOLO image inference and data analyzer SLM.</a:t>
            </a:r>
            <a:endParaRPr lang="en-US" sz="1000" dirty="0">
              <a:solidFill>
                <a:srgbClr val="0070C0"/>
              </a:solidFill>
            </a:endParaRPr>
          </a:p>
        </p:txBody>
      </p:sp>
      <p:sp>
        <p:nvSpPr>
          <p:cNvPr id="32" name="Text 22">
            <a:extLst>
              <a:ext uri="{FF2B5EF4-FFF2-40B4-BE49-F238E27FC236}">
                <a16:creationId xmlns:a16="http://schemas.microsoft.com/office/drawing/2014/main" id="{E97C5696-81DE-305D-F942-E19944B8DD08}"/>
              </a:ext>
            </a:extLst>
          </p:cNvPr>
          <p:cNvSpPr txBox="1"/>
          <p:nvPr/>
        </p:nvSpPr>
        <p:spPr>
          <a:xfrm>
            <a:off x="401735" y="2820858"/>
            <a:ext cx="283464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chemeClr val="tx2">
                    <a:lumMod val="75000"/>
                  </a:schemeClr>
                </a:solidFill>
                <a:latin typeface="Calibri" pitchFamily="34" charset="0"/>
                <a:ea typeface="Calibri" pitchFamily="34" charset="-122"/>
                <a:cs typeface="Calibri" pitchFamily="34" charset="-120"/>
              </a:rPr>
              <a:t>Stationary field node</a:t>
            </a:r>
            <a:endParaRPr lang="en-US" sz="1200" dirty="0">
              <a:solidFill>
                <a:schemeClr val="tx2">
                  <a:lumMod val="75000"/>
                </a:schemeClr>
              </a:solidFill>
            </a:endParaRPr>
          </a:p>
        </p:txBody>
      </p:sp>
      <p:sp>
        <p:nvSpPr>
          <p:cNvPr id="33" name="Text 23">
            <a:extLst>
              <a:ext uri="{FF2B5EF4-FFF2-40B4-BE49-F238E27FC236}">
                <a16:creationId xmlns:a16="http://schemas.microsoft.com/office/drawing/2014/main" id="{4D265A5F-CB32-8B23-4EC8-A5D4BA85917A}"/>
              </a:ext>
            </a:extLst>
          </p:cNvPr>
          <p:cNvSpPr txBox="1"/>
          <p:nvPr/>
        </p:nvSpPr>
        <p:spPr>
          <a:xfrm>
            <a:off x="401735" y="3140898"/>
            <a:ext cx="4999606" cy="64008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08000"/>
              </a:lnSpc>
              <a:buFont typeface="Arial" panose="020B0604020202020204" pitchFamily="34" charset="0"/>
              <a:buChar char="•"/>
            </a:pPr>
            <a:r>
              <a:rPr lang="en-US" sz="1000" dirty="0">
                <a:solidFill>
                  <a:srgbClr val="0070C0"/>
                </a:solidFill>
                <a:latin typeface="Calibri" pitchFamily="34" charset="0"/>
                <a:ea typeface="Calibri" pitchFamily="34" charset="-122"/>
                <a:cs typeface="Calibri" pitchFamily="34" charset="-120"/>
              </a:rPr>
              <a:t>Raspberry Pi + Pi camera at fixed spots — time-lapse imagery for canopy monitoring, pest traps, blight spread.</a:t>
            </a:r>
          </a:p>
          <a:p>
            <a:pPr marL="171450" indent="-171450">
              <a:buFont typeface="Arial" panose="020B0604020202020204" pitchFamily="34" charset="0"/>
              <a:buChar char="•"/>
            </a:pPr>
            <a:r>
              <a:rPr lang="en-IN" sz="1000" dirty="0">
                <a:solidFill>
                  <a:srgbClr val="0070C0"/>
                </a:solidFill>
              </a:rPr>
              <a:t>Local Data Ledger &amp; Gateway: Raspberry Pi runs an embedded SQLite database to log time-stamped environmental telemetry and hosts a local offline dashboard over Wi-Fi hotspot.</a:t>
            </a:r>
            <a:endParaRPr lang="en-US" sz="1000" dirty="0">
              <a:solidFill>
                <a:srgbClr val="0070C0"/>
              </a:solidFill>
            </a:endParaRPr>
          </a:p>
        </p:txBody>
      </p:sp>
      <p:sp>
        <p:nvSpPr>
          <p:cNvPr id="36" name="Text 25">
            <a:extLst>
              <a:ext uri="{FF2B5EF4-FFF2-40B4-BE49-F238E27FC236}">
                <a16:creationId xmlns:a16="http://schemas.microsoft.com/office/drawing/2014/main" id="{EFE7C319-0EDC-1C30-298C-565DCC6E0AE6}"/>
              </a:ext>
            </a:extLst>
          </p:cNvPr>
          <p:cNvSpPr txBox="1"/>
          <p:nvPr/>
        </p:nvSpPr>
        <p:spPr>
          <a:xfrm>
            <a:off x="378473" y="3838645"/>
            <a:ext cx="283464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chemeClr val="tx2">
                    <a:lumMod val="75000"/>
                  </a:schemeClr>
                </a:solidFill>
                <a:latin typeface="Calibri" pitchFamily="34" charset="0"/>
                <a:ea typeface="Calibri" pitchFamily="34" charset="-122"/>
                <a:cs typeface="Calibri" pitchFamily="34" charset="-120"/>
              </a:rPr>
              <a:t>Low-power in-situ sensor hub</a:t>
            </a:r>
            <a:endParaRPr lang="en-US" sz="1200" dirty="0">
              <a:solidFill>
                <a:schemeClr val="tx2">
                  <a:lumMod val="75000"/>
                </a:schemeClr>
              </a:solidFill>
            </a:endParaRPr>
          </a:p>
        </p:txBody>
      </p:sp>
      <p:sp>
        <p:nvSpPr>
          <p:cNvPr id="37" name="Text 26">
            <a:extLst>
              <a:ext uri="{FF2B5EF4-FFF2-40B4-BE49-F238E27FC236}">
                <a16:creationId xmlns:a16="http://schemas.microsoft.com/office/drawing/2014/main" id="{5C24714D-65AA-76E5-5CCB-5B1B6E2B102E}"/>
              </a:ext>
            </a:extLst>
          </p:cNvPr>
          <p:cNvSpPr txBox="1"/>
          <p:nvPr/>
        </p:nvSpPr>
        <p:spPr>
          <a:xfrm>
            <a:off x="378472" y="4112965"/>
            <a:ext cx="4887065" cy="64008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08000"/>
              </a:lnSpc>
              <a:buFont typeface="Arial" panose="020B0604020202020204" pitchFamily="34" charset="0"/>
              <a:buChar char="•"/>
            </a:pPr>
            <a:r>
              <a:rPr lang="en-US" sz="1000" dirty="0">
                <a:solidFill>
                  <a:srgbClr val="0070C0"/>
                </a:solidFill>
                <a:latin typeface="+mj-lt"/>
                <a:ea typeface="Calibri" pitchFamily="34" charset="-122"/>
                <a:cs typeface="Calibri" pitchFamily="34" charset="-120"/>
              </a:rPr>
              <a:t>ESP32 + capacitive soil moisture, SHT31 temp/humidity, optical/NPK sensors — telemetry via BLE to phone or Pi gateway.</a:t>
            </a:r>
          </a:p>
          <a:p>
            <a:pPr marL="171450" indent="-171450">
              <a:buFont typeface="Arial" panose="020B0604020202020204" pitchFamily="34" charset="0"/>
              <a:buChar char="•"/>
            </a:pPr>
            <a:r>
              <a:rPr lang="en-IN" sz="1000" dirty="0">
                <a:solidFill>
                  <a:srgbClr val="0070C0"/>
                </a:solidFill>
                <a:latin typeface="+mj-lt"/>
              </a:rPr>
              <a:t>Power Management &amp; Longevity: ESP32 nodes utilize aggressive deep-sleep duty cycles powered by 18650 Li-ion cells paired with small 5V solar panels for continuous, maintenance-free field operation.</a:t>
            </a:r>
          </a:p>
          <a:p>
            <a:pPr marL="171450" indent="-171450">
              <a:buFont typeface="Arial" panose="020B0604020202020204" pitchFamily="34" charset="0"/>
              <a:buChar char="•"/>
            </a:pPr>
            <a:r>
              <a:rPr lang="en-IN" sz="1000" dirty="0">
                <a:solidFill>
                  <a:srgbClr val="0070C0"/>
                </a:solidFill>
                <a:latin typeface="+mj-lt"/>
              </a:rPr>
              <a:t>Hybrid Connectivity: Supports ESP-NOW / LoRa for long-range, line-of-sight sensor transmission back to the Pi gateway alongside direct BLE pairing for walk-by farmer scans.</a:t>
            </a:r>
            <a:endParaRPr lang="en-US" sz="1000" dirty="0">
              <a:solidFill>
                <a:srgbClr val="0070C0"/>
              </a:solidFill>
              <a:latin typeface="+mj-lt"/>
            </a:endParaRPr>
          </a:p>
        </p:txBody>
      </p:sp>
      <p:sp>
        <p:nvSpPr>
          <p:cNvPr id="39" name="Shape 28">
            <a:extLst>
              <a:ext uri="{FF2B5EF4-FFF2-40B4-BE49-F238E27FC236}">
                <a16:creationId xmlns:a16="http://schemas.microsoft.com/office/drawing/2014/main" id="{605F7C6C-AFD4-F075-4E22-2B2380A38754}"/>
              </a:ext>
            </a:extLst>
          </p:cNvPr>
          <p:cNvSpPr/>
          <p:nvPr/>
        </p:nvSpPr>
        <p:spPr>
          <a:xfrm>
            <a:off x="6306312" y="1143320"/>
            <a:ext cx="5723624" cy="5074920"/>
          </a:xfrm>
          <a:prstGeom prst="rect">
            <a:avLst/>
          </a:prstGeom>
          <a:solidFill>
            <a:srgbClr val="FFFFFF"/>
          </a:solidFill>
          <a:ln w="12700">
            <a:solidFill>
              <a:srgbClr val="E3E8DE"/>
            </a:solidFill>
            <a:prstDash val="solid"/>
          </a:ln>
          <a:effectLst>
            <a:outerShdw blurRad="76200" dist="25400" dir="5400000" algn="bl" rotWithShape="0">
              <a:srgbClr val="3A3A3A">
                <a:alpha val="18000"/>
              </a:srgbClr>
            </a:outerShdw>
          </a:effectLst>
        </p:spPr>
        <p:txBody>
          <a:bodyPr/>
          <a:lstStyle/>
          <a:p>
            <a:endParaRPr lang="en-IN"/>
          </a:p>
        </p:txBody>
      </p:sp>
      <p:sp>
        <p:nvSpPr>
          <p:cNvPr id="40" name="Shape 29">
            <a:extLst>
              <a:ext uri="{FF2B5EF4-FFF2-40B4-BE49-F238E27FC236}">
                <a16:creationId xmlns:a16="http://schemas.microsoft.com/office/drawing/2014/main" id="{921D5456-46DD-4B92-CF95-5D5F1584A197}"/>
              </a:ext>
            </a:extLst>
          </p:cNvPr>
          <p:cNvSpPr/>
          <p:nvPr/>
        </p:nvSpPr>
        <p:spPr>
          <a:xfrm>
            <a:off x="6507480" y="1269798"/>
            <a:ext cx="457200" cy="457200"/>
          </a:xfrm>
          <a:prstGeom prst="ellipse">
            <a:avLst/>
          </a:prstGeom>
          <a:solidFill>
            <a:srgbClr val="0070C0"/>
          </a:solidFill>
          <a:ln/>
          <a:effectLst>
            <a:outerShdw blurRad="63500" sx="102000" sy="102000" algn="ctr" rotWithShape="0">
              <a:prstClr val="black">
                <a:alpha val="40000"/>
              </a:prstClr>
            </a:outerShdw>
          </a:effectLst>
        </p:spPr>
        <p:txBody>
          <a:bodyPr/>
          <a:lstStyle/>
          <a:p>
            <a:endParaRPr lang="en-IN"/>
          </a:p>
        </p:txBody>
      </p:sp>
      <p:pic>
        <p:nvPicPr>
          <p:cNvPr id="41" name="Image 8">
            <a:extLst>
              <a:ext uri="{FF2B5EF4-FFF2-40B4-BE49-F238E27FC236}">
                <a16:creationId xmlns:a16="http://schemas.microsoft.com/office/drawing/2014/main" id="{0D29BDBD-D458-01B7-7818-5644FB384B4D}"/>
              </a:ext>
            </a:extLst>
          </p:cNvPr>
          <p:cNvPicPr>
            <a:picLocks noChangeAspect="1"/>
          </p:cNvPicPr>
          <p:nvPr/>
        </p:nvPicPr>
        <p:blipFill>
          <a:blip r:embed="rId5"/>
          <a:srcRect l="-1" r="-17510"/>
          <a:stretch>
            <a:fillRect/>
          </a:stretch>
        </p:blipFill>
        <p:spPr>
          <a:xfrm>
            <a:off x="6596950" y="1370382"/>
            <a:ext cx="300863" cy="256032"/>
          </a:xfrm>
          <a:prstGeom prst="rect">
            <a:avLst/>
          </a:prstGeom>
        </p:spPr>
      </p:pic>
      <p:sp>
        <p:nvSpPr>
          <p:cNvPr id="42" name="Text 30">
            <a:extLst>
              <a:ext uri="{FF2B5EF4-FFF2-40B4-BE49-F238E27FC236}">
                <a16:creationId xmlns:a16="http://schemas.microsoft.com/office/drawing/2014/main" id="{FC6F5C81-6CF4-1A82-A2D9-63AFFE510C5F}"/>
              </a:ext>
            </a:extLst>
          </p:cNvPr>
          <p:cNvSpPr txBox="1"/>
          <p:nvPr/>
        </p:nvSpPr>
        <p:spPr>
          <a:xfrm>
            <a:off x="7083552" y="1277217"/>
            <a:ext cx="288036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chemeClr val="tx2">
                    <a:lumMod val="75000"/>
                  </a:schemeClr>
                </a:solidFill>
                <a:latin typeface="Calibri" pitchFamily="34" charset="0"/>
                <a:ea typeface="Calibri" pitchFamily="34" charset="-122"/>
                <a:cs typeface="Calibri" pitchFamily="34" charset="-120"/>
              </a:rPr>
              <a:t>SOFTWARE &amp; MODEL</a:t>
            </a:r>
            <a:endParaRPr lang="en-US" sz="1500" dirty="0">
              <a:solidFill>
                <a:schemeClr val="tx2">
                  <a:lumMod val="75000"/>
                </a:schemeClr>
              </a:solidFill>
            </a:endParaRPr>
          </a:p>
        </p:txBody>
      </p:sp>
      <p:sp>
        <p:nvSpPr>
          <p:cNvPr id="43" name="Text 31">
            <a:extLst>
              <a:ext uri="{FF2B5EF4-FFF2-40B4-BE49-F238E27FC236}">
                <a16:creationId xmlns:a16="http://schemas.microsoft.com/office/drawing/2014/main" id="{0A2D37F8-756E-1C60-F03E-3B3B28B2E060}"/>
              </a:ext>
            </a:extLst>
          </p:cNvPr>
          <p:cNvSpPr txBox="1"/>
          <p:nvPr/>
        </p:nvSpPr>
        <p:spPr>
          <a:xfrm>
            <a:off x="6523474" y="1547756"/>
            <a:ext cx="5255354" cy="8686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5000"/>
              </a:lnSpc>
            </a:pPr>
            <a:r>
              <a:rPr lang="en-US" sz="1050" b="1" dirty="0">
                <a:solidFill>
                  <a:srgbClr val="0070C0"/>
                </a:solidFill>
                <a:latin typeface="Calibri" pitchFamily="34" charset="0"/>
                <a:ea typeface="Calibri" pitchFamily="34" charset="-122"/>
                <a:cs typeface="Calibri" pitchFamily="34" charset="-120"/>
              </a:rPr>
              <a:t>Model: </a:t>
            </a:r>
          </a:p>
          <a:p>
            <a:pPr marL="171450" indent="-171450">
              <a:lnSpc>
                <a:spcPct val="115000"/>
              </a:lnSpc>
              <a:buFont typeface="Arial" panose="020B0604020202020204" pitchFamily="34" charset="0"/>
              <a:buChar char="•"/>
            </a:pPr>
            <a:r>
              <a:rPr lang="en-US" sz="1050" dirty="0">
                <a:solidFill>
                  <a:srgbClr val="0070C0"/>
                </a:solidFill>
                <a:latin typeface="Calibri" pitchFamily="34" charset="0"/>
                <a:ea typeface="Calibri" pitchFamily="34" charset="-122"/>
                <a:cs typeface="Calibri" pitchFamily="34" charset="-120"/>
              </a:rPr>
              <a:t>YOLO for image detection/classification (disease, pest, deficiency), paired with a small language model that turns sensor + vision patterns into farmer-facing recommendations.</a:t>
            </a:r>
            <a:endParaRPr lang="en-US" sz="1050" dirty="0">
              <a:solidFill>
                <a:srgbClr val="0070C0"/>
              </a:solidFill>
            </a:endParaRPr>
          </a:p>
        </p:txBody>
      </p:sp>
      <p:sp>
        <p:nvSpPr>
          <p:cNvPr id="44" name="Text 32">
            <a:extLst>
              <a:ext uri="{FF2B5EF4-FFF2-40B4-BE49-F238E27FC236}">
                <a16:creationId xmlns:a16="http://schemas.microsoft.com/office/drawing/2014/main" id="{CE2B7A31-A12A-5D3F-8904-CC902752F279}"/>
              </a:ext>
            </a:extLst>
          </p:cNvPr>
          <p:cNvSpPr txBox="1"/>
          <p:nvPr/>
        </p:nvSpPr>
        <p:spPr>
          <a:xfrm>
            <a:off x="6507480" y="2834722"/>
            <a:ext cx="5255354" cy="7772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5000"/>
              </a:lnSpc>
            </a:pPr>
            <a:r>
              <a:rPr lang="en-US" sz="1050" b="1" dirty="0">
                <a:solidFill>
                  <a:srgbClr val="0070C0"/>
                </a:solidFill>
                <a:latin typeface="+mj-lt"/>
                <a:ea typeface="Calibri" pitchFamily="34" charset="-122"/>
                <a:cs typeface="Calibri" pitchFamily="34" charset="-120"/>
              </a:rPr>
              <a:t>Training</a:t>
            </a:r>
            <a:r>
              <a:rPr lang="en-US" sz="1050" dirty="0">
                <a:solidFill>
                  <a:srgbClr val="0070C0"/>
                </a:solidFill>
                <a:latin typeface="+mj-lt"/>
                <a:ea typeface="Calibri" pitchFamily="34" charset="-122"/>
                <a:cs typeface="Calibri" pitchFamily="34" charset="-120"/>
              </a:rPr>
              <a:t>: </a:t>
            </a:r>
          </a:p>
          <a:p>
            <a:pPr marL="171450" indent="-171450">
              <a:lnSpc>
                <a:spcPct val="115000"/>
              </a:lnSpc>
              <a:buFont typeface="Arial" panose="020B0604020202020204" pitchFamily="34" charset="0"/>
              <a:buChar char="•"/>
            </a:pPr>
            <a:r>
              <a:rPr lang="en-US" sz="1050" dirty="0">
                <a:solidFill>
                  <a:srgbClr val="0070C0"/>
                </a:solidFill>
                <a:latin typeface="+mj-lt"/>
                <a:ea typeface="Calibri" pitchFamily="34" charset="-122"/>
                <a:cs typeface="Calibri" pitchFamily="34" charset="-120"/>
              </a:rPr>
              <a:t>Supervised learning on labelled, multi-crop disease datasets (Mendeley, Kaggle) covering sugarcane, cashew, paddy and general crop disease for the image model training. We use pre existing models such as Qwen3 or Llama 3.2 with </a:t>
            </a:r>
            <a:r>
              <a:rPr lang="en-US" sz="1050" dirty="0" err="1">
                <a:solidFill>
                  <a:srgbClr val="0070C0"/>
                </a:solidFill>
                <a:latin typeface="+mj-lt"/>
                <a:ea typeface="Calibri" pitchFamily="34" charset="-122"/>
                <a:cs typeface="Calibri" pitchFamily="34" charset="-120"/>
              </a:rPr>
              <a:t>QLoRA</a:t>
            </a:r>
            <a:r>
              <a:rPr lang="en-US" sz="1050" dirty="0">
                <a:solidFill>
                  <a:srgbClr val="0070C0"/>
                </a:solidFill>
                <a:latin typeface="+mj-lt"/>
                <a:ea typeface="Calibri" pitchFamily="34" charset="-122"/>
                <a:cs typeface="Calibri" pitchFamily="34" charset="-120"/>
              </a:rPr>
              <a:t> to minimize the models footprint on the ram.</a:t>
            </a:r>
          </a:p>
          <a:p>
            <a:pPr marL="171450" lvl="0" indent="-171450">
              <a:buFont typeface="Arial" panose="020B0604020202020204" pitchFamily="34" charset="0"/>
              <a:buChar char="•"/>
            </a:pPr>
            <a:r>
              <a:rPr lang="en-IN" sz="1050" dirty="0">
                <a:solidFill>
                  <a:srgbClr val="0070C0"/>
                </a:solidFill>
                <a:latin typeface="+mj-lt"/>
              </a:rPr>
              <a:t>Grammar-Constrained Inference: SLM executed via llama.cpp using GBNF grammar rules to guarantee deterministic, structured JSON output for the mobile application.</a:t>
            </a:r>
          </a:p>
          <a:p>
            <a:pPr marL="171450" lvl="0" indent="-171450">
              <a:buFont typeface="Arial" panose="020B0604020202020204" pitchFamily="34" charset="0"/>
              <a:buChar char="•"/>
            </a:pPr>
            <a:r>
              <a:rPr lang="en-IN" sz="1050" dirty="0">
                <a:solidFill>
                  <a:srgbClr val="0070C0"/>
                </a:solidFill>
                <a:latin typeface="+mj-lt"/>
              </a:rPr>
              <a:t>Multilingual Voice Output: Integrated offline Text-to-Speech (TTS) pipeline delivers spoken agronomic advice in regional languages (e.g., Hindi, Tamil) for accessible, hands-free field use.</a:t>
            </a:r>
          </a:p>
          <a:p>
            <a:pPr marL="171450" indent="-171450">
              <a:lnSpc>
                <a:spcPct val="115000"/>
              </a:lnSpc>
              <a:buFont typeface="Arial" panose="020B0604020202020204" pitchFamily="34" charset="0"/>
              <a:buChar char="•"/>
            </a:pPr>
            <a:endParaRPr lang="en-US" sz="1050" dirty="0">
              <a:solidFill>
                <a:srgbClr val="0070C0"/>
              </a:solidFill>
              <a:latin typeface="+mj-lt"/>
              <a:ea typeface="Calibri" pitchFamily="34" charset="-122"/>
              <a:cs typeface="Calibri" pitchFamily="34" charset="-120"/>
            </a:endParaRPr>
          </a:p>
          <a:p>
            <a:pPr marL="171450" indent="-171450">
              <a:lnSpc>
                <a:spcPct val="100000"/>
              </a:lnSpc>
              <a:buFont typeface="Arial" panose="020B0604020202020204" pitchFamily="34" charset="0"/>
              <a:buChar char="•"/>
            </a:pPr>
            <a:endParaRPr lang="en-US" sz="1050" dirty="0">
              <a:solidFill>
                <a:srgbClr val="0070C0"/>
              </a:solidFill>
              <a:latin typeface="+mj-lt"/>
              <a:ea typeface="Calibri" pitchFamily="34" charset="-122"/>
              <a:cs typeface="Calibri" pitchFamily="34" charset="-120"/>
            </a:endParaRPr>
          </a:p>
        </p:txBody>
      </p:sp>
      <p:sp>
        <p:nvSpPr>
          <p:cNvPr id="45" name="Text 33">
            <a:extLst>
              <a:ext uri="{FF2B5EF4-FFF2-40B4-BE49-F238E27FC236}">
                <a16:creationId xmlns:a16="http://schemas.microsoft.com/office/drawing/2014/main" id="{4E67056C-62D2-C907-CC4B-E50B398C59C5}"/>
              </a:ext>
            </a:extLst>
          </p:cNvPr>
          <p:cNvSpPr txBox="1"/>
          <p:nvPr/>
        </p:nvSpPr>
        <p:spPr>
          <a:xfrm>
            <a:off x="6507480" y="3747852"/>
            <a:ext cx="5255354" cy="6400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5000"/>
              </a:lnSpc>
            </a:pPr>
            <a:r>
              <a:rPr lang="en-US" sz="1050" b="1" dirty="0">
                <a:solidFill>
                  <a:srgbClr val="0070C0"/>
                </a:solidFill>
                <a:latin typeface="Calibri" pitchFamily="34" charset="0"/>
                <a:ea typeface="Calibri" pitchFamily="34" charset="-122"/>
                <a:cs typeface="Calibri" pitchFamily="34" charset="-120"/>
              </a:rPr>
              <a:t>External data:  </a:t>
            </a:r>
          </a:p>
          <a:p>
            <a:pPr marL="171450" indent="-171450">
              <a:lnSpc>
                <a:spcPct val="115000"/>
              </a:lnSpc>
              <a:buFont typeface="Arial" panose="020B0604020202020204" pitchFamily="34" charset="0"/>
              <a:buChar char="•"/>
            </a:pPr>
            <a:r>
              <a:rPr lang="en-US" sz="1050" dirty="0">
                <a:solidFill>
                  <a:srgbClr val="0070C0"/>
                </a:solidFill>
                <a:latin typeface="Calibri" pitchFamily="34" charset="0"/>
                <a:ea typeface="Calibri" pitchFamily="34" charset="-122"/>
                <a:cs typeface="Calibri" pitchFamily="34" charset="-120"/>
              </a:rPr>
              <a:t>IMD weather/seasonal APIs + ISRO Bhuvan Geoportal through </a:t>
            </a:r>
            <a:r>
              <a:rPr lang="en-US" sz="1050" dirty="0" err="1">
                <a:solidFill>
                  <a:srgbClr val="0070C0"/>
                </a:solidFill>
                <a:latin typeface="Calibri" pitchFamily="34" charset="0"/>
                <a:ea typeface="Calibri" pitchFamily="34" charset="-122"/>
                <a:cs typeface="Calibri" pitchFamily="34" charset="-120"/>
              </a:rPr>
              <a:t>Bhoonidhi</a:t>
            </a:r>
            <a:r>
              <a:rPr lang="en-US" sz="1050" dirty="0">
                <a:solidFill>
                  <a:srgbClr val="0070C0"/>
                </a:solidFill>
                <a:latin typeface="Calibri" pitchFamily="34" charset="0"/>
                <a:ea typeface="Calibri" pitchFamily="34" charset="-122"/>
                <a:cs typeface="Calibri" pitchFamily="34" charset="-120"/>
              </a:rPr>
              <a:t> API, for flood detection and water-level monitoring.</a:t>
            </a:r>
            <a:endParaRPr lang="en-US" sz="1050" dirty="0">
              <a:solidFill>
                <a:srgbClr val="0070C0"/>
              </a:solidFill>
            </a:endParaRPr>
          </a:p>
        </p:txBody>
      </p:sp>
      <p:sp>
        <p:nvSpPr>
          <p:cNvPr id="46" name="Text 34">
            <a:extLst>
              <a:ext uri="{FF2B5EF4-FFF2-40B4-BE49-F238E27FC236}">
                <a16:creationId xmlns:a16="http://schemas.microsoft.com/office/drawing/2014/main" id="{3945D6F3-D14C-1037-EA32-07A37A2608DD}"/>
              </a:ext>
            </a:extLst>
          </p:cNvPr>
          <p:cNvSpPr txBox="1"/>
          <p:nvPr/>
        </p:nvSpPr>
        <p:spPr>
          <a:xfrm>
            <a:off x="6507480" y="4558862"/>
            <a:ext cx="5255354" cy="6400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5000"/>
              </a:lnSpc>
            </a:pPr>
            <a:r>
              <a:rPr lang="en-US" sz="1050" b="1" dirty="0">
                <a:solidFill>
                  <a:srgbClr val="0070C0"/>
                </a:solidFill>
                <a:latin typeface="+mj-lt"/>
                <a:ea typeface="Calibri" pitchFamily="34" charset="-122"/>
                <a:cs typeface="Calibri" pitchFamily="34" charset="-120"/>
              </a:rPr>
              <a:t>Optimization</a:t>
            </a:r>
            <a:r>
              <a:rPr lang="en-US" sz="1050" dirty="0">
                <a:solidFill>
                  <a:srgbClr val="0070C0"/>
                </a:solidFill>
                <a:latin typeface="+mj-lt"/>
                <a:ea typeface="Calibri" pitchFamily="34" charset="-122"/>
                <a:cs typeface="Calibri" pitchFamily="34" charset="-120"/>
              </a:rPr>
              <a:t>:  </a:t>
            </a:r>
          </a:p>
          <a:p>
            <a:pPr marL="171450" indent="-171450">
              <a:lnSpc>
                <a:spcPct val="115000"/>
              </a:lnSpc>
              <a:buFont typeface="Arial" panose="020B0604020202020204" pitchFamily="34" charset="0"/>
              <a:buChar char="•"/>
            </a:pPr>
            <a:r>
              <a:rPr lang="en-US" sz="1050" dirty="0">
                <a:solidFill>
                  <a:srgbClr val="0070C0"/>
                </a:solidFill>
                <a:latin typeface="+mj-lt"/>
                <a:ea typeface="Calibri" pitchFamily="34" charset="-122"/>
                <a:cs typeface="Calibri" pitchFamily="34" charset="-120"/>
              </a:rPr>
              <a:t>Edge quantization compresses the model to fit on-device RAM (smartphone or Raspberry Pi) for offline inference.</a:t>
            </a:r>
          </a:p>
          <a:p>
            <a:pPr marL="171450" indent="-171450">
              <a:buFont typeface="Arial" panose="020B0604020202020204" pitchFamily="34" charset="0"/>
              <a:buChar char="•"/>
            </a:pPr>
            <a:r>
              <a:rPr lang="en-IN" sz="1050" dirty="0">
                <a:solidFill>
                  <a:srgbClr val="0070C0"/>
                </a:solidFill>
                <a:latin typeface="+mj-lt"/>
              </a:rPr>
              <a:t>Quantization Specifications: Vision model converted to INT8 </a:t>
            </a:r>
            <a:r>
              <a:rPr lang="en-IN" sz="1050" dirty="0" err="1">
                <a:solidFill>
                  <a:srgbClr val="0070C0"/>
                </a:solidFill>
                <a:latin typeface="+mj-lt"/>
              </a:rPr>
              <a:t>TFLite</a:t>
            </a:r>
            <a:r>
              <a:rPr lang="en-IN" sz="1050" dirty="0">
                <a:solidFill>
                  <a:srgbClr val="0070C0"/>
                </a:solidFill>
                <a:latin typeface="+mj-lt"/>
              </a:rPr>
              <a:t> (&lt;30 MB) and SLM compressed to INT4 GGUF (&lt;1 GB), ensuring sub-100ms inference without thermal throttling.</a:t>
            </a:r>
            <a:endParaRPr lang="en-US" sz="1050" dirty="0">
              <a:solidFill>
                <a:srgbClr val="0070C0"/>
              </a:solidFill>
              <a:latin typeface="+mj-lt"/>
              <a:ea typeface="Calibri" pitchFamily="34" charset="-122"/>
              <a:cs typeface="Calibri" pitchFamily="34" charset="-120"/>
            </a:endParaRPr>
          </a:p>
          <a:p>
            <a:pPr marL="171450" indent="-171450">
              <a:lnSpc>
                <a:spcPct val="115000"/>
              </a:lnSpc>
              <a:buFont typeface="Arial" panose="020B0604020202020204" pitchFamily="34" charset="0"/>
              <a:buChar char="•"/>
            </a:pPr>
            <a:endParaRPr lang="en-US" sz="1050" dirty="0">
              <a:solidFill>
                <a:srgbClr val="0070C0"/>
              </a:solidFill>
              <a:latin typeface="+mj-lt"/>
            </a:endParaRPr>
          </a:p>
        </p:txBody>
      </p:sp>
      <p:sp>
        <p:nvSpPr>
          <p:cNvPr id="47" name="Shape 35">
            <a:extLst>
              <a:ext uri="{FF2B5EF4-FFF2-40B4-BE49-F238E27FC236}">
                <a16:creationId xmlns:a16="http://schemas.microsoft.com/office/drawing/2014/main" id="{60E4C078-0D34-37BB-EEF9-CF2CFE04E526}"/>
              </a:ext>
            </a:extLst>
          </p:cNvPr>
          <p:cNvSpPr/>
          <p:nvPr/>
        </p:nvSpPr>
        <p:spPr>
          <a:xfrm>
            <a:off x="6534912" y="5320704"/>
            <a:ext cx="5255354" cy="778909"/>
          </a:xfrm>
          <a:prstGeom prst="rect">
            <a:avLst/>
          </a:prstGeom>
          <a:solidFill>
            <a:srgbClr val="0070C0"/>
          </a:solidFill>
          <a:ln/>
          <a:effectLst>
            <a:outerShdw blurRad="50800" dist="38100" dir="5400000" algn="t" rotWithShape="0">
              <a:prstClr val="black">
                <a:alpha val="40000"/>
              </a:prstClr>
            </a:outerShdw>
          </a:effectLst>
        </p:spPr>
        <p:txBody>
          <a:bodyPr/>
          <a:lstStyle/>
          <a:p>
            <a:endParaRPr lang="en-IN"/>
          </a:p>
        </p:txBody>
      </p:sp>
      <p:sp>
        <p:nvSpPr>
          <p:cNvPr id="48" name="Text 36">
            <a:extLst>
              <a:ext uri="{FF2B5EF4-FFF2-40B4-BE49-F238E27FC236}">
                <a16:creationId xmlns:a16="http://schemas.microsoft.com/office/drawing/2014/main" id="{0D4421CE-2E5D-BBEC-971B-750B571D22FC}"/>
              </a:ext>
            </a:extLst>
          </p:cNvPr>
          <p:cNvSpPr txBox="1"/>
          <p:nvPr/>
        </p:nvSpPr>
        <p:spPr>
          <a:xfrm>
            <a:off x="6747381" y="5167132"/>
            <a:ext cx="4892040" cy="10058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2000"/>
              </a:lnSpc>
              <a:buNone/>
            </a:pPr>
            <a:r>
              <a:rPr lang="en-US" sz="1000" b="1" dirty="0">
                <a:solidFill>
                  <a:schemeClr val="bg1"/>
                </a:solidFill>
                <a:latin typeface="Calibri" pitchFamily="34" charset="0"/>
                <a:ea typeface="Calibri" pitchFamily="34" charset="-122"/>
                <a:cs typeface="Calibri" pitchFamily="34" charset="-120"/>
              </a:rPr>
              <a:t>Unknown case handling:  </a:t>
            </a:r>
            <a:endParaRPr lang="en-US" sz="1000" dirty="0">
              <a:solidFill>
                <a:schemeClr val="bg1"/>
              </a:solidFill>
            </a:endParaRPr>
          </a:p>
          <a:p>
            <a:pPr marL="0" indent="0">
              <a:lnSpc>
                <a:spcPct val="112000"/>
              </a:lnSpc>
              <a:buNone/>
            </a:pPr>
            <a:r>
              <a:rPr lang="en-US" sz="1000" dirty="0">
                <a:solidFill>
                  <a:schemeClr val="bg1"/>
                </a:solidFill>
                <a:latin typeface="Calibri" pitchFamily="34" charset="0"/>
                <a:ea typeface="Calibri" pitchFamily="34" charset="-122"/>
                <a:cs typeface="Calibri" pitchFamily="34" charset="-120"/>
              </a:rPr>
              <a:t>If a disease or pest pattern isn't recognized, it's flagged as new/unknown and the farmer is prompted to consult an expert — never a silent failure.</a:t>
            </a:r>
            <a:endParaRPr lang="en-US" sz="1000" dirty="0">
              <a:solidFill>
                <a:schemeClr val="bg1"/>
              </a:solidFill>
            </a:endParaRPr>
          </a:p>
        </p:txBody>
      </p:sp>
      <p:pic>
        <p:nvPicPr>
          <p:cNvPr id="3" name="Picture 2">
            <a:extLst>
              <a:ext uri="{FF2B5EF4-FFF2-40B4-BE49-F238E27FC236}">
                <a16:creationId xmlns:a16="http://schemas.microsoft.com/office/drawing/2014/main" id="{65CBAD44-9C40-88AB-53E0-D080F8DDA5DB}"/>
              </a:ext>
            </a:extLst>
          </p:cNvPr>
          <p:cNvPicPr>
            <a:picLocks noChangeAspect="1"/>
          </p:cNvPicPr>
          <p:nvPr/>
        </p:nvPicPr>
        <p:blipFill>
          <a:blip r:embed="rId6"/>
          <a:stretch>
            <a:fillRect/>
          </a:stretch>
        </p:blipFill>
        <p:spPr>
          <a:xfrm>
            <a:off x="182998" y="105915"/>
            <a:ext cx="1495412" cy="99694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3BF1C68C-1EA9-8A77-72B5-B9D828E81B2F}"/>
              </a:ext>
            </a:extLst>
          </p:cNvPr>
          <p:cNvPicPr>
            <a:picLocks noChangeAspect="1"/>
          </p:cNvPicPr>
          <p:nvPr/>
        </p:nvPicPr>
        <p:blipFill>
          <a:blip r:embed="rId4"/>
          <a:stretch>
            <a:fillRect/>
          </a:stretch>
        </p:blipFill>
        <p:spPr>
          <a:xfrm>
            <a:off x="182998" y="169554"/>
            <a:ext cx="1495412" cy="996941"/>
          </a:xfrm>
          <a:prstGeom prst="rect">
            <a:avLst/>
          </a:prstGeom>
        </p:spPr>
      </p:pic>
      <p:cxnSp>
        <p:nvCxnSpPr>
          <p:cNvPr id="5" name="Straight Connector 4">
            <a:extLst>
              <a:ext uri="{FF2B5EF4-FFF2-40B4-BE49-F238E27FC236}">
                <a16:creationId xmlns:a16="http://schemas.microsoft.com/office/drawing/2014/main" id="{0A23C7E3-9468-31D2-D64E-3CB5F302F407}"/>
              </a:ext>
            </a:extLst>
          </p:cNvPr>
          <p:cNvCxnSpPr/>
          <p:nvPr/>
        </p:nvCxnSpPr>
        <p:spPr>
          <a:xfrm flipV="1">
            <a:off x="-139003" y="1250870"/>
            <a:ext cx="12470004" cy="70339"/>
          </a:xfrm>
          <a:prstGeom prst="line">
            <a:avLst/>
          </a:prstGeom>
          <a:ln/>
        </p:spPr>
        <p:style>
          <a:lnRef idx="2">
            <a:schemeClr val="dk1"/>
          </a:lnRef>
          <a:fillRef idx="0">
            <a:schemeClr val="dk1"/>
          </a:fillRef>
          <a:effectRef idx="1">
            <a:schemeClr val="dk1"/>
          </a:effectRef>
          <a:fontRef idx="minor">
            <a:schemeClr val="tx1"/>
          </a:fontRef>
        </p:style>
      </p:cxnSp>
      <p:sp>
        <p:nvSpPr>
          <p:cNvPr id="8" name="Rectangle: Rounded Corners 7">
            <a:extLst>
              <a:ext uri="{FF2B5EF4-FFF2-40B4-BE49-F238E27FC236}">
                <a16:creationId xmlns:a16="http://schemas.microsoft.com/office/drawing/2014/main" id="{A1C141BC-2D01-2790-3178-A7951C75BE4A}"/>
              </a:ext>
            </a:extLst>
          </p:cNvPr>
          <p:cNvSpPr/>
          <p:nvPr/>
        </p:nvSpPr>
        <p:spPr>
          <a:xfrm>
            <a:off x="267956" y="1508242"/>
            <a:ext cx="2907323" cy="4620686"/>
          </a:xfrm>
          <a:prstGeom prst="roundRect">
            <a:avLst/>
          </a:prstGeom>
          <a:noFill/>
          <a:ln w="25400">
            <a:solidFill>
              <a:schemeClr val="tx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E311F04F-8159-CCB6-22E5-9D95D01616BA}"/>
              </a:ext>
            </a:extLst>
          </p:cNvPr>
          <p:cNvSpPr/>
          <p:nvPr/>
        </p:nvSpPr>
        <p:spPr>
          <a:xfrm>
            <a:off x="3444908" y="1508241"/>
            <a:ext cx="5045949" cy="4620685"/>
          </a:xfrm>
          <a:prstGeom prst="roundRect">
            <a:avLst/>
          </a:prstGeom>
          <a:noFill/>
          <a:ln w="25400">
            <a:solidFill>
              <a:schemeClr val="tx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068ADBD9-C474-DCB1-DD7E-41B1E0E797C7}"/>
              </a:ext>
            </a:extLst>
          </p:cNvPr>
          <p:cNvSpPr/>
          <p:nvPr/>
        </p:nvSpPr>
        <p:spPr>
          <a:xfrm>
            <a:off x="8760487" y="1508242"/>
            <a:ext cx="3173298" cy="4620686"/>
          </a:xfrm>
          <a:prstGeom prst="roundRect">
            <a:avLst/>
          </a:prstGeom>
          <a:noFill/>
          <a:ln w="25400">
            <a:solidFill>
              <a:schemeClr val="tx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2438E052-6085-74D7-23BD-D548D321D9E9}"/>
              </a:ext>
            </a:extLst>
          </p:cNvPr>
          <p:cNvSpPr txBox="1"/>
          <p:nvPr/>
        </p:nvSpPr>
        <p:spPr>
          <a:xfrm>
            <a:off x="3771900" y="1636812"/>
            <a:ext cx="4495800" cy="4031873"/>
          </a:xfrm>
          <a:prstGeom prst="rect">
            <a:avLst/>
          </a:prstGeom>
          <a:noFill/>
        </p:spPr>
        <p:txBody>
          <a:bodyPr wrap="square" rtlCol="0">
            <a:spAutoFit/>
          </a:bodyPr>
          <a:lstStyle/>
          <a:p>
            <a:pPr algn="ctr"/>
            <a:r>
              <a:rPr lang="en-US" sz="2000" b="1" dirty="0"/>
              <a:t>Analysis of the Feasibility of the Idea</a:t>
            </a:r>
          </a:p>
          <a:p>
            <a:pPr algn="ctr"/>
            <a:endParaRPr lang="en-US" sz="2000" b="1" dirty="0"/>
          </a:p>
          <a:p>
            <a:pPr algn="just"/>
            <a:r>
              <a:rPr lang="en-IN" dirty="0"/>
              <a:t>The proposed smart monitoring box is a highly feasible and scalable solution that utilizes low-cost components (like the ESP32 and solar panels) to operate entirely offline via local voice and SMS alerts. However, its success depends on overcoming potential challenges, including hardware durability in extreme weather, power management during prolonged cloudy periods, sensor calibration across diverse soil types, and the initial hesitation of farmers to adopt the new technology.</a:t>
            </a:r>
          </a:p>
        </p:txBody>
      </p:sp>
      <p:sp>
        <p:nvSpPr>
          <p:cNvPr id="19" name="TextBox 18">
            <a:extLst>
              <a:ext uri="{FF2B5EF4-FFF2-40B4-BE49-F238E27FC236}">
                <a16:creationId xmlns:a16="http://schemas.microsoft.com/office/drawing/2014/main" id="{20807267-37FE-B915-4E3A-058404413730}"/>
              </a:ext>
            </a:extLst>
          </p:cNvPr>
          <p:cNvSpPr txBox="1"/>
          <p:nvPr/>
        </p:nvSpPr>
        <p:spPr>
          <a:xfrm>
            <a:off x="8932743" y="1698367"/>
            <a:ext cx="2828786" cy="3970318"/>
          </a:xfrm>
          <a:prstGeom prst="rect">
            <a:avLst/>
          </a:prstGeom>
          <a:noFill/>
        </p:spPr>
        <p:txBody>
          <a:bodyPr wrap="square" rtlCol="0">
            <a:spAutoFit/>
          </a:bodyPr>
          <a:lstStyle/>
          <a:p>
            <a:pPr algn="ctr"/>
            <a:r>
              <a:rPr lang="en-IN" b="1" dirty="0"/>
              <a:t>Potential Challenges and Risks</a:t>
            </a:r>
          </a:p>
          <a:p>
            <a:endParaRPr lang="en-IN" dirty="0"/>
          </a:p>
          <a:p>
            <a:pPr algn="just"/>
            <a:r>
              <a:rPr lang="en-IN" dirty="0"/>
              <a:t>Sensor calibration errors due to varying soil types and </a:t>
            </a:r>
            <a:r>
              <a:rPr lang="en-IN" dirty="0" err="1"/>
              <a:t>climates.Hardware</a:t>
            </a:r>
            <a:r>
              <a:rPr lang="en-IN" dirty="0"/>
              <a:t> durability under extreme conditions (floods, heatwaves, heavy rainfall).Power management issues during long cloudy </a:t>
            </a:r>
            <a:r>
              <a:rPr lang="en-IN" dirty="0" err="1"/>
              <a:t>periods.Farmers</a:t>
            </a:r>
            <a:r>
              <a:rPr lang="en-IN" dirty="0"/>
              <a:t>’ initial hesitation to adopt new technology.</a:t>
            </a:r>
          </a:p>
        </p:txBody>
      </p:sp>
      <p:sp>
        <p:nvSpPr>
          <p:cNvPr id="20" name="TextBox 19">
            <a:extLst>
              <a:ext uri="{FF2B5EF4-FFF2-40B4-BE49-F238E27FC236}">
                <a16:creationId xmlns:a16="http://schemas.microsoft.com/office/drawing/2014/main" id="{9A9993EA-FA09-60CF-52D4-06B6AC3149C3}"/>
              </a:ext>
            </a:extLst>
          </p:cNvPr>
          <p:cNvSpPr txBox="1"/>
          <p:nvPr/>
        </p:nvSpPr>
        <p:spPr>
          <a:xfrm>
            <a:off x="348569" y="1636812"/>
            <a:ext cx="2746096" cy="4524315"/>
          </a:xfrm>
          <a:prstGeom prst="rect">
            <a:avLst/>
          </a:prstGeom>
          <a:noFill/>
        </p:spPr>
        <p:txBody>
          <a:bodyPr wrap="square" rtlCol="0">
            <a:spAutoFit/>
          </a:bodyPr>
          <a:lstStyle/>
          <a:p>
            <a:pPr algn="ctr"/>
            <a:r>
              <a:rPr lang="en-US" b="1" dirty="0"/>
              <a:t>Strategies for Overcoming These Challenges</a:t>
            </a:r>
          </a:p>
          <a:p>
            <a:endParaRPr lang="en-US" dirty="0"/>
          </a:p>
          <a:p>
            <a:pPr algn="just"/>
            <a:r>
              <a:rPr lang="en-US" dirty="0"/>
              <a:t>Use waterproof and heat‑resistant casing materials; test prototypes in multiple </a:t>
            </a:r>
            <a:r>
              <a:rPr lang="en-US" dirty="0" err="1"/>
              <a:t>terrains.Include</a:t>
            </a:r>
            <a:r>
              <a:rPr lang="en-US" dirty="0"/>
              <a:t> self‑calibration routines and periodic sensor </a:t>
            </a:r>
            <a:r>
              <a:rPr lang="en-US" dirty="0" err="1"/>
              <a:t>checks.Add</a:t>
            </a:r>
            <a:r>
              <a:rPr lang="en-US" dirty="0"/>
              <a:t> a small backup battery to handle low‑sunlight </a:t>
            </a:r>
            <a:r>
              <a:rPr lang="en-US" dirty="0" err="1"/>
              <a:t>days.Conduct</a:t>
            </a:r>
            <a:r>
              <a:rPr lang="en-US" dirty="0"/>
              <a:t> field demos and local‑language training sessions to build trust and familiarity.</a:t>
            </a:r>
            <a:endParaRPr lang="en-IN" dirty="0"/>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D32C48B5-4D4D-DEAA-4CEA-06C435C49DA3}"/>
              </a:ext>
            </a:extLst>
          </p:cNvPr>
          <p:cNvPicPr>
            <a:picLocks noChangeAspect="1"/>
          </p:cNvPicPr>
          <p:nvPr/>
        </p:nvPicPr>
        <p:blipFill>
          <a:blip r:embed="rId4"/>
          <a:stretch>
            <a:fillRect/>
          </a:stretch>
        </p:blipFill>
        <p:spPr>
          <a:xfrm>
            <a:off x="182998" y="169554"/>
            <a:ext cx="1495412" cy="996941"/>
          </a:xfrm>
          <a:prstGeom prst="rect">
            <a:avLst/>
          </a:prstGeom>
        </p:spPr>
      </p:pic>
      <p:sp>
        <p:nvSpPr>
          <p:cNvPr id="5" name="Rectangle: Rounded Corners 4">
            <a:extLst>
              <a:ext uri="{FF2B5EF4-FFF2-40B4-BE49-F238E27FC236}">
                <a16:creationId xmlns:a16="http://schemas.microsoft.com/office/drawing/2014/main" id="{77719B26-38B7-DCF8-3658-D543E4528281}"/>
              </a:ext>
            </a:extLst>
          </p:cNvPr>
          <p:cNvSpPr/>
          <p:nvPr/>
        </p:nvSpPr>
        <p:spPr>
          <a:xfrm>
            <a:off x="267957" y="1508242"/>
            <a:ext cx="2418094" cy="4435358"/>
          </a:xfrm>
          <a:prstGeom prst="roundRect">
            <a:avLst/>
          </a:prstGeom>
          <a:noFill/>
          <a:ln w="25400">
            <a:solidFill>
              <a:schemeClr val="tx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3D9DC4AB-65AE-6CB8-1C43-FA2189BB2406}"/>
              </a:ext>
            </a:extLst>
          </p:cNvPr>
          <p:cNvSpPr/>
          <p:nvPr/>
        </p:nvSpPr>
        <p:spPr>
          <a:xfrm>
            <a:off x="3249282" y="1508242"/>
            <a:ext cx="2418094" cy="4435358"/>
          </a:xfrm>
          <a:prstGeom prst="roundRect">
            <a:avLst/>
          </a:prstGeom>
          <a:noFill/>
          <a:ln w="25400">
            <a:solidFill>
              <a:schemeClr val="tx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68062BD7-3A22-48AC-B8DA-894512110DC4}"/>
              </a:ext>
            </a:extLst>
          </p:cNvPr>
          <p:cNvSpPr/>
          <p:nvPr/>
        </p:nvSpPr>
        <p:spPr>
          <a:xfrm>
            <a:off x="6344907" y="1508242"/>
            <a:ext cx="2418094" cy="4435358"/>
          </a:xfrm>
          <a:prstGeom prst="roundRect">
            <a:avLst/>
          </a:prstGeom>
          <a:noFill/>
          <a:ln w="25400">
            <a:solidFill>
              <a:schemeClr val="tx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79FA6D03-A182-004D-D24B-855D50A12693}"/>
              </a:ext>
            </a:extLst>
          </p:cNvPr>
          <p:cNvSpPr/>
          <p:nvPr/>
        </p:nvSpPr>
        <p:spPr>
          <a:xfrm>
            <a:off x="9326232" y="1508242"/>
            <a:ext cx="2418094" cy="4435358"/>
          </a:xfrm>
          <a:prstGeom prst="roundRect">
            <a:avLst/>
          </a:prstGeom>
          <a:noFill/>
          <a:ln w="25400">
            <a:solidFill>
              <a:schemeClr val="tx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D95ACAA7-B41F-A89A-C3BD-F5B276581FEB}"/>
              </a:ext>
            </a:extLst>
          </p:cNvPr>
          <p:cNvSpPr txBox="1"/>
          <p:nvPr/>
        </p:nvSpPr>
        <p:spPr>
          <a:xfrm>
            <a:off x="1962150" y="1062684"/>
            <a:ext cx="2418094" cy="369332"/>
          </a:xfrm>
          <a:prstGeom prst="rect">
            <a:avLst/>
          </a:prstGeom>
          <a:noFill/>
        </p:spPr>
        <p:txBody>
          <a:bodyPr wrap="square" rtlCol="0">
            <a:spAutoFit/>
          </a:bodyPr>
          <a:lstStyle/>
          <a:p>
            <a:r>
              <a:rPr lang="en-IN" dirty="0">
                <a:latin typeface="Abril Fatface" panose="02000503000000020003" pitchFamily="2" charset="0"/>
              </a:rPr>
              <a:t>Impact on Farmers</a:t>
            </a:r>
          </a:p>
        </p:txBody>
      </p:sp>
      <p:sp>
        <p:nvSpPr>
          <p:cNvPr id="18" name="TextBox 17">
            <a:extLst>
              <a:ext uri="{FF2B5EF4-FFF2-40B4-BE49-F238E27FC236}">
                <a16:creationId xmlns:a16="http://schemas.microsoft.com/office/drawing/2014/main" id="{36B5BE5F-D19A-608B-A8B7-1A9F9B6D4975}"/>
              </a:ext>
            </a:extLst>
          </p:cNvPr>
          <p:cNvSpPr txBox="1"/>
          <p:nvPr/>
        </p:nvSpPr>
        <p:spPr>
          <a:xfrm>
            <a:off x="8557938" y="1062684"/>
            <a:ext cx="1222148" cy="369332"/>
          </a:xfrm>
          <a:prstGeom prst="rect">
            <a:avLst/>
          </a:prstGeom>
          <a:noFill/>
        </p:spPr>
        <p:txBody>
          <a:bodyPr wrap="square" rtlCol="0">
            <a:spAutoFit/>
          </a:bodyPr>
          <a:lstStyle/>
          <a:p>
            <a:r>
              <a:rPr lang="en-IN" dirty="0">
                <a:latin typeface="Abril Fatface" panose="02000503000000020003" pitchFamily="2" charset="0"/>
              </a:rPr>
              <a:t>Benefits</a:t>
            </a:r>
          </a:p>
        </p:txBody>
      </p:sp>
      <p:sp>
        <p:nvSpPr>
          <p:cNvPr id="19" name="TextBox 18">
            <a:extLst>
              <a:ext uri="{FF2B5EF4-FFF2-40B4-BE49-F238E27FC236}">
                <a16:creationId xmlns:a16="http://schemas.microsoft.com/office/drawing/2014/main" id="{7748102E-E08B-2FE3-605C-2AD72F95C753}"/>
              </a:ext>
            </a:extLst>
          </p:cNvPr>
          <p:cNvSpPr txBox="1"/>
          <p:nvPr/>
        </p:nvSpPr>
        <p:spPr>
          <a:xfrm>
            <a:off x="267957" y="1612852"/>
            <a:ext cx="2418095" cy="4247317"/>
          </a:xfrm>
          <a:prstGeom prst="rect">
            <a:avLst/>
          </a:prstGeom>
          <a:noFill/>
        </p:spPr>
        <p:txBody>
          <a:bodyPr wrap="square" rtlCol="0">
            <a:spAutoFit/>
          </a:bodyPr>
          <a:lstStyle/>
          <a:p>
            <a:pPr algn="ctr"/>
            <a:r>
              <a:rPr lang="en-US" dirty="0"/>
              <a:t> </a:t>
            </a:r>
            <a:r>
              <a:rPr lang="en-US" b="1" dirty="0"/>
              <a:t>Early intervention</a:t>
            </a:r>
          </a:p>
          <a:p>
            <a:r>
              <a:rPr lang="en-US" dirty="0"/>
              <a:t>Detects diseases, pests and nutrient deficiencies before major crop damage. Reduced crop losses: Timely alerts help farmers respond quickly to emerging threats. Smarter irrigation: Provides crop- and field-specific irrigation recommendations, reducing unnecessary water usage.</a:t>
            </a:r>
            <a:endParaRPr lang="en-IN" dirty="0"/>
          </a:p>
        </p:txBody>
      </p:sp>
      <p:sp>
        <p:nvSpPr>
          <p:cNvPr id="20" name="TextBox 19">
            <a:extLst>
              <a:ext uri="{FF2B5EF4-FFF2-40B4-BE49-F238E27FC236}">
                <a16:creationId xmlns:a16="http://schemas.microsoft.com/office/drawing/2014/main" id="{070ABBC2-52A3-4948-8424-43CA6EFF55AE}"/>
              </a:ext>
            </a:extLst>
          </p:cNvPr>
          <p:cNvSpPr txBox="1"/>
          <p:nvPr/>
        </p:nvSpPr>
        <p:spPr>
          <a:xfrm>
            <a:off x="3363582" y="1646495"/>
            <a:ext cx="2038350" cy="4247317"/>
          </a:xfrm>
          <a:prstGeom prst="rect">
            <a:avLst/>
          </a:prstGeom>
          <a:noFill/>
        </p:spPr>
        <p:txBody>
          <a:bodyPr wrap="square" rtlCol="0">
            <a:spAutoFit/>
          </a:bodyPr>
          <a:lstStyle/>
          <a:p>
            <a:pPr algn="ctr"/>
            <a:r>
              <a:rPr lang="en-US" b="1" dirty="0"/>
              <a:t>Climate resilience</a:t>
            </a:r>
          </a:p>
          <a:p>
            <a:r>
              <a:rPr lang="en-US" dirty="0"/>
              <a:t>Helps farmers prepare for droughts, floods, heat waves and other weather risks.* Accessible decision support: Delivers simple, multilingual recommendations suitable for farmers with varying levels of technical knowledge.</a:t>
            </a:r>
            <a:endParaRPr lang="en-IN" dirty="0"/>
          </a:p>
        </p:txBody>
      </p:sp>
      <p:sp>
        <p:nvSpPr>
          <p:cNvPr id="21" name="TextBox 20">
            <a:extLst>
              <a:ext uri="{FF2B5EF4-FFF2-40B4-BE49-F238E27FC236}">
                <a16:creationId xmlns:a16="http://schemas.microsoft.com/office/drawing/2014/main" id="{18333BB1-9A3E-4713-B62F-CA3EBF6B4DF7}"/>
              </a:ext>
            </a:extLst>
          </p:cNvPr>
          <p:cNvSpPr txBox="1"/>
          <p:nvPr/>
        </p:nvSpPr>
        <p:spPr>
          <a:xfrm>
            <a:off x="6500676" y="1646495"/>
            <a:ext cx="2236924" cy="4339650"/>
          </a:xfrm>
          <a:prstGeom prst="rect">
            <a:avLst/>
          </a:prstGeom>
          <a:noFill/>
        </p:spPr>
        <p:txBody>
          <a:bodyPr wrap="square" rtlCol="0">
            <a:spAutoFit/>
          </a:bodyPr>
          <a:lstStyle/>
          <a:p>
            <a:pPr algn="ctr"/>
            <a:r>
              <a:rPr lang="en-IN" b="1" dirty="0"/>
              <a:t>Environmental Benefits</a:t>
            </a:r>
          </a:p>
          <a:p>
            <a:r>
              <a:rPr lang="en-IN" sz="1600" dirty="0"/>
              <a:t>Efficient water utilization: Conserves increasingly limited water resources. Reduced chemical overuse :Minimizes unnecessary pesticide and fertilizer application. Better soil management : Supports sustainable nutrient management. Climate-smart farming : Encourages adaptation to changing weather conditions.</a:t>
            </a:r>
          </a:p>
        </p:txBody>
      </p:sp>
      <p:sp>
        <p:nvSpPr>
          <p:cNvPr id="22" name="TextBox 21">
            <a:extLst>
              <a:ext uri="{FF2B5EF4-FFF2-40B4-BE49-F238E27FC236}">
                <a16:creationId xmlns:a16="http://schemas.microsoft.com/office/drawing/2014/main" id="{196B55D7-DBE3-DF51-66DF-377E85A18C05}"/>
              </a:ext>
            </a:extLst>
          </p:cNvPr>
          <p:cNvSpPr txBox="1"/>
          <p:nvPr/>
        </p:nvSpPr>
        <p:spPr>
          <a:xfrm>
            <a:off x="9505950" y="1665545"/>
            <a:ext cx="2076450" cy="3600986"/>
          </a:xfrm>
          <a:prstGeom prst="rect">
            <a:avLst/>
          </a:prstGeom>
          <a:noFill/>
        </p:spPr>
        <p:txBody>
          <a:bodyPr wrap="square" rtlCol="0">
            <a:spAutoFit/>
          </a:bodyPr>
          <a:lstStyle/>
          <a:p>
            <a:pPr algn="ctr"/>
            <a:r>
              <a:rPr lang="en-IN" b="1" dirty="0"/>
              <a:t>Social &amp; National Impact</a:t>
            </a:r>
          </a:p>
          <a:p>
            <a:r>
              <a:rPr lang="en-IN" sz="1600" dirty="0"/>
              <a:t>Supports small and marginal farmers Promotes data-driven and sustainable farming</a:t>
            </a:r>
          </a:p>
          <a:p>
            <a:r>
              <a:rPr lang="en-IN" sz="1600" dirty="0"/>
              <a:t>Early Detection : Timely Action :Lower Inputs &amp; Losses : Better Resource Efficiency : Higher Yield : Improved Farmer Income</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329773" y="-22755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26528" y="-26999"/>
            <a:ext cx="2010830" cy="949476"/>
          </a:xfrm>
          <a:prstGeom prst="rect">
            <a:avLst/>
          </a:prstGeom>
        </p:spPr>
      </p:pic>
      <p:sp>
        <p:nvSpPr>
          <p:cNvPr id="27" name="Rectangle: Diagonal Corners Rounded 26">
            <a:extLst>
              <a:ext uri="{FF2B5EF4-FFF2-40B4-BE49-F238E27FC236}">
                <a16:creationId xmlns:a16="http://schemas.microsoft.com/office/drawing/2014/main" id="{3D154B32-E505-F8B7-EA84-871582ADC726}"/>
              </a:ext>
            </a:extLst>
          </p:cNvPr>
          <p:cNvSpPr/>
          <p:nvPr/>
        </p:nvSpPr>
        <p:spPr>
          <a:xfrm>
            <a:off x="3607555" y="776667"/>
            <a:ext cx="3281663" cy="2395483"/>
          </a:xfrm>
          <a:prstGeom prst="round2Diag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IN" b="1" u="sng" dirty="0"/>
              <a:t>Total Addressable Market:</a:t>
            </a:r>
            <a:br>
              <a:rPr lang="en-IN" dirty="0"/>
            </a:br>
            <a:r>
              <a:rPr lang="en-IN" dirty="0"/>
              <a:t>TAM talks about the total market that exists for smart agriculture in India. India’s total smart agricultural market is valued at around $850 Million in 2025 </a:t>
            </a:r>
          </a:p>
          <a:p>
            <a:pPr algn="ctr"/>
            <a:endParaRPr lang="en-IN" dirty="0"/>
          </a:p>
        </p:txBody>
      </p:sp>
      <p:sp>
        <p:nvSpPr>
          <p:cNvPr id="31" name="Rectangle: Diagonal Corners Rounded 30">
            <a:extLst>
              <a:ext uri="{FF2B5EF4-FFF2-40B4-BE49-F238E27FC236}">
                <a16:creationId xmlns:a16="http://schemas.microsoft.com/office/drawing/2014/main" id="{D2EE23B5-E00C-1BB6-030D-7E61566FB711}"/>
              </a:ext>
            </a:extLst>
          </p:cNvPr>
          <p:cNvSpPr/>
          <p:nvPr/>
        </p:nvSpPr>
        <p:spPr>
          <a:xfrm>
            <a:off x="3523475" y="3595499"/>
            <a:ext cx="3338607" cy="2513908"/>
          </a:xfrm>
          <a:prstGeom prst="round2Diag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IN" b="1" u="sng" dirty="0"/>
              <a:t>Serviceable Available Market:</a:t>
            </a:r>
          </a:p>
          <a:p>
            <a:r>
              <a:rPr lang="en-IN" dirty="0"/>
              <a:t>SAM talks about the slice of TAM we can serve according to our specific solution. The total SAM in India is valued at around $300 Million </a:t>
            </a:r>
          </a:p>
        </p:txBody>
      </p:sp>
      <p:sp>
        <p:nvSpPr>
          <p:cNvPr id="39" name="TextBox 38">
            <a:extLst>
              <a:ext uri="{FF2B5EF4-FFF2-40B4-BE49-F238E27FC236}">
                <a16:creationId xmlns:a16="http://schemas.microsoft.com/office/drawing/2014/main" id="{19E2F3E6-3BF9-3FDD-9D40-605FE81B3627}"/>
              </a:ext>
            </a:extLst>
          </p:cNvPr>
          <p:cNvSpPr txBox="1"/>
          <p:nvPr/>
        </p:nvSpPr>
        <p:spPr>
          <a:xfrm>
            <a:off x="7049054" y="3192726"/>
            <a:ext cx="3377092" cy="646331"/>
          </a:xfrm>
          <a:prstGeom prst="rect">
            <a:avLst/>
          </a:prstGeom>
          <a:noFill/>
        </p:spPr>
        <p:txBody>
          <a:bodyPr wrap="square" rtlCol="0">
            <a:spAutoFit/>
          </a:bodyPr>
          <a:lstStyle/>
          <a:p>
            <a:br>
              <a:rPr lang="en-IN" dirty="0"/>
            </a:br>
            <a:endParaRPr lang="en-IN" dirty="0"/>
          </a:p>
        </p:txBody>
      </p:sp>
      <p:sp>
        <p:nvSpPr>
          <p:cNvPr id="40" name="Rectangle: Diagonal Corners Rounded 39">
            <a:extLst>
              <a:ext uri="{FF2B5EF4-FFF2-40B4-BE49-F238E27FC236}">
                <a16:creationId xmlns:a16="http://schemas.microsoft.com/office/drawing/2014/main" id="{2723DD51-4665-DD27-328F-9F1A071C8FF4}"/>
              </a:ext>
            </a:extLst>
          </p:cNvPr>
          <p:cNvSpPr/>
          <p:nvPr/>
        </p:nvSpPr>
        <p:spPr>
          <a:xfrm>
            <a:off x="11268" y="3707769"/>
            <a:ext cx="3325236" cy="2463930"/>
          </a:xfrm>
          <a:prstGeom prst="round2Diag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IN" b="1" u="sng" dirty="0"/>
              <a:t>Serviceable Obtainable Market:</a:t>
            </a:r>
            <a:br>
              <a:rPr lang="en-IN" b="1" u="sng" dirty="0"/>
            </a:br>
            <a:r>
              <a:rPr lang="en-IN" dirty="0"/>
              <a:t>SOM talks about what can be realistically achieved in that particular timeframe accounting for practical limitations. Total SOM in India is valued at around $200 Million</a:t>
            </a:r>
          </a:p>
        </p:txBody>
      </p:sp>
      <p:sp>
        <p:nvSpPr>
          <p:cNvPr id="3" name="TextBox 2">
            <a:extLst>
              <a:ext uri="{FF2B5EF4-FFF2-40B4-BE49-F238E27FC236}">
                <a16:creationId xmlns:a16="http://schemas.microsoft.com/office/drawing/2014/main" id="{FCCD1D1B-3764-1FB9-E0BB-0E8A7CF568A0}"/>
              </a:ext>
            </a:extLst>
          </p:cNvPr>
          <p:cNvSpPr txBox="1"/>
          <p:nvPr/>
        </p:nvSpPr>
        <p:spPr>
          <a:xfrm>
            <a:off x="7011382" y="976734"/>
            <a:ext cx="4965910" cy="3939540"/>
          </a:xfrm>
          <a:prstGeom prst="rect">
            <a:avLst/>
          </a:prstGeom>
          <a:noFill/>
        </p:spPr>
        <p:txBody>
          <a:bodyPr wrap="square" rtlCol="0">
            <a:spAutoFit/>
          </a:bodyPr>
          <a:lstStyle/>
          <a:p>
            <a:r>
              <a:rPr lang="en-IN" sz="1600" b="1" dirty="0"/>
              <a:t>Reference and Links</a:t>
            </a:r>
          </a:p>
          <a:p>
            <a:r>
              <a:rPr lang="en-IN" sz="1300" dirty="0"/>
              <a:t>[1] IEEE Xplore, Development of IoT Based Smart Crop and Pest Management System for Sustainable Smart Farming, 2025.</a:t>
            </a:r>
          </a:p>
          <a:p>
            <a:r>
              <a:rPr lang="en-IN" sz="1300" dirty="0"/>
              <a:t>[2] IJRASET, Integration of IoT Boards (ESP32, Raspberry Pi) for Smart Agricultural Monitoring, 2023.</a:t>
            </a:r>
          </a:p>
          <a:p>
            <a:r>
              <a:rPr lang="en-IN" sz="1300" dirty="0"/>
              <a:t>[3] </a:t>
            </a:r>
            <a:r>
              <a:rPr lang="en-IN" sz="1300" dirty="0" err="1"/>
              <a:t>Sistemasi</a:t>
            </a:r>
            <a:r>
              <a:rPr lang="en-IN" sz="1300" dirty="0"/>
              <a:t> Journal, Multi‑Modal Sensor System for Crop Monitoring using ESP32 and Raspberry Pi, 2024.</a:t>
            </a:r>
          </a:p>
          <a:p>
            <a:r>
              <a:rPr lang="en-IN" sz="1300" dirty="0"/>
              <a:t>[4] Springer </a:t>
            </a:r>
            <a:r>
              <a:rPr lang="en-IN" sz="1300" dirty="0" err="1"/>
              <a:t>BioData</a:t>
            </a:r>
            <a:r>
              <a:rPr lang="en-IN" sz="1300" dirty="0"/>
              <a:t> Mining, Deep Vision in Agriculture: Assessing YOLO in Plant Leaf Disease Classification, 2024.</a:t>
            </a:r>
          </a:p>
          <a:p>
            <a:r>
              <a:rPr lang="en-IN" sz="1300" dirty="0"/>
              <a:t>[5] Nature Scientific Reports, YOLO‑based Deep Learning Framework for Real‑Time Plant Health Monitoring, 2025.</a:t>
            </a:r>
          </a:p>
          <a:p>
            <a:r>
              <a:rPr lang="en-IN" sz="1300" dirty="0">
                <a:hlinkClick r:id="rId4"/>
              </a:rPr>
              <a:t>https://www.fao.org/investment-centre/latest/news/detail/Transforming-food-systems-in-India-with-digital-agriculture/?utm</a:t>
            </a:r>
            <a:endParaRPr lang="en-IN" sz="1300" dirty="0"/>
          </a:p>
          <a:p>
            <a:r>
              <a:rPr lang="en-IN" sz="1300" dirty="0">
                <a:hlinkClick r:id="rId5"/>
              </a:rPr>
              <a:t>https://icar.gov.in/?utm_source=chatgpt.comhttps://www.icar.org.in/sites/default/files/2025-10/ICAR%20Eng%20Annual%20Report_2024-25.pdf?utm_</a:t>
            </a:r>
          </a:p>
          <a:p>
            <a:r>
              <a:rPr lang="en-IN" sz="1300" dirty="0">
                <a:hlinkClick r:id="rId5"/>
              </a:rPr>
              <a:t>https://epubs.icar.org.in/index.php/IndFarm/article/view/130025?utm</a:t>
            </a:r>
            <a:r>
              <a:rPr lang="en-IN" sz="1300" dirty="0"/>
              <a:t> </a:t>
            </a:r>
          </a:p>
          <a:p>
            <a:r>
              <a:rPr lang="en-IN" sz="1300" dirty="0">
                <a:hlinkClick r:id="rId6"/>
              </a:rPr>
              <a:t>https://www.pib.gov.in/PressReleasePage.aspx?PRID=2244628&amp;utm</a:t>
            </a:r>
            <a:r>
              <a:rPr lang="en-IN" sz="1300" dirty="0"/>
              <a:t> </a:t>
            </a:r>
          </a:p>
        </p:txBody>
      </p:sp>
      <p:pic>
        <p:nvPicPr>
          <p:cNvPr id="5" name="Picture 4">
            <a:extLst>
              <a:ext uri="{FF2B5EF4-FFF2-40B4-BE49-F238E27FC236}">
                <a16:creationId xmlns:a16="http://schemas.microsoft.com/office/drawing/2014/main" id="{4FBD7348-75EB-673C-6AAD-327D426790A9}"/>
              </a:ext>
            </a:extLst>
          </p:cNvPr>
          <p:cNvPicPr>
            <a:picLocks noChangeAspect="1"/>
          </p:cNvPicPr>
          <p:nvPr/>
        </p:nvPicPr>
        <p:blipFill>
          <a:blip r:embed="rId7"/>
          <a:stretch>
            <a:fillRect/>
          </a:stretch>
        </p:blipFill>
        <p:spPr>
          <a:xfrm>
            <a:off x="182998" y="169554"/>
            <a:ext cx="1495412" cy="996941"/>
          </a:xfrm>
          <a:prstGeom prst="rect">
            <a:avLst/>
          </a:prstGeom>
        </p:spPr>
      </p:pic>
      <p:pic>
        <p:nvPicPr>
          <p:cNvPr id="14" name="Picture 13" descr="TAM SAM SOM - what it means and why it matters">
            <a:extLst>
              <a:ext uri="{FF2B5EF4-FFF2-40B4-BE49-F238E27FC236}">
                <a16:creationId xmlns:a16="http://schemas.microsoft.com/office/drawing/2014/main" id="{5CC50CEF-B48A-2197-490E-4AABA2C30018}"/>
              </a:ext>
            </a:extLst>
          </p:cNvPr>
          <p:cNvPicPr>
            <a:picLocks noChangeAspect="1"/>
          </p:cNvPicPr>
          <p:nvPr/>
        </p:nvPicPr>
        <p:blipFill>
          <a:blip r:embed="rId8"/>
          <a:stretch>
            <a:fillRect/>
          </a:stretch>
        </p:blipFill>
        <p:spPr>
          <a:xfrm>
            <a:off x="386601" y="1098513"/>
            <a:ext cx="2071291" cy="2023504"/>
          </a:xfrm>
          <a:prstGeom prst="rect">
            <a:avLst/>
          </a:prstGeom>
        </p:spPr>
      </p:pic>
      <p:cxnSp>
        <p:nvCxnSpPr>
          <p:cNvPr id="34" name="Straight Arrow Connector 33">
            <a:extLst>
              <a:ext uri="{FF2B5EF4-FFF2-40B4-BE49-F238E27FC236}">
                <a16:creationId xmlns:a16="http://schemas.microsoft.com/office/drawing/2014/main" id="{8D79E9FB-8F18-B3FE-5B88-FABA3E38B60C}"/>
              </a:ext>
            </a:extLst>
          </p:cNvPr>
          <p:cNvCxnSpPr>
            <a:cxnSpLocks/>
          </p:cNvCxnSpPr>
          <p:nvPr/>
        </p:nvCxnSpPr>
        <p:spPr>
          <a:xfrm>
            <a:off x="1406498" y="2928938"/>
            <a:ext cx="0" cy="68341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A24F1809-4593-692B-5519-15548CDE5248}"/>
              </a:ext>
            </a:extLst>
          </p:cNvPr>
          <p:cNvCxnSpPr>
            <a:cxnSpLocks/>
          </p:cNvCxnSpPr>
          <p:nvPr/>
        </p:nvCxnSpPr>
        <p:spPr>
          <a:xfrm>
            <a:off x="1765854" y="2402545"/>
            <a:ext cx="1868837" cy="125524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76931C01-ED90-8639-5843-F1F625679C43}"/>
              </a:ext>
            </a:extLst>
          </p:cNvPr>
          <p:cNvCxnSpPr>
            <a:cxnSpLocks/>
          </p:cNvCxnSpPr>
          <p:nvPr/>
        </p:nvCxnSpPr>
        <p:spPr>
          <a:xfrm>
            <a:off x="1961828" y="1527620"/>
            <a:ext cx="145389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775955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7736</TotalTime>
  <Words>1459</Words>
  <Application>Microsoft Office PowerPoint</Application>
  <PresentationFormat>Widescreen</PresentationFormat>
  <Paragraphs>93</Paragraphs>
  <Slides>6</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ＭＳ Ｐゴシック</vt:lpstr>
      <vt:lpstr>Abril Fatface</vt:lpstr>
      <vt:lpstr>Arial</vt:lpstr>
      <vt:lpstr>Calibri</vt:lpstr>
      <vt:lpstr>Garamond</vt:lpstr>
      <vt:lpstr>Times New Roman</vt:lpstr>
      <vt:lpstr>TradeGothic</vt:lpstr>
      <vt:lpstr>Office Theme</vt:lpstr>
      <vt:lpstr>SMART INDIA HACKATHON 2026</vt:lpstr>
      <vt:lpstr> IDEA TITLE</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Venkat K</cp:lastModifiedBy>
  <cp:revision>156</cp:revision>
  <dcterms:created xsi:type="dcterms:W3CDTF">2013-12-12T18:46:50Z</dcterms:created>
  <dcterms:modified xsi:type="dcterms:W3CDTF">2026-08-30T11:12:02Z</dcterms:modified>
  <cp:category/>
</cp:coreProperties>
</file>